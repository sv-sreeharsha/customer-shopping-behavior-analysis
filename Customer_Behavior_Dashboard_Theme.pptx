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B1E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3D1659"/>
          </a:solidFill>
          <a:ln w="12700">
            <a:solidFill>
              <a:srgbClr val="3D165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0" y="0"/>
            <a:ext cx="54864" cy="5143500"/>
          </a:xfrm>
          <a:prstGeom prst="rect">
            <a:avLst/>
          </a:prstGeom>
          <a:solidFill>
            <a:srgbClr val="D63EAE"/>
          </a:solidFill>
          <a:ln w="12700">
            <a:solidFill>
              <a:srgbClr val="D63E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57200"/>
            <a:ext cx="41605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4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SHOPPING</a:t>
            </a:r>
            <a:endParaRPr lang="en-US" sz="4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</a:t>
            </a:r>
            <a:endParaRPr lang="en-US" sz="4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11480" y="3337560"/>
            <a:ext cx="1463040" cy="45720"/>
          </a:xfrm>
          <a:prstGeom prst="rect">
            <a:avLst/>
          </a:prstGeom>
          <a:solidFill>
            <a:srgbClr val="D63EAE"/>
          </a:solidFill>
          <a:ln w="12700">
            <a:solidFill>
              <a:srgbClr val="D63E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3493008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39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Analytics Portfolio Project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397764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7B2D9E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397764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39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737360" y="397764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7B2D9E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37360" y="397764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39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Server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63240" y="397764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7B2D9E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63240" y="397764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39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83480" y="365760"/>
            <a:ext cx="1874520" cy="2103120"/>
          </a:xfrm>
          <a:prstGeom prst="roundRect">
            <a:avLst>
              <a:gd name="adj" fmla="val 4878"/>
            </a:avLst>
          </a:prstGeom>
          <a:solidFill>
            <a:srgbClr val="5C2280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83480" y="365760"/>
            <a:ext cx="1874520" cy="54864"/>
          </a:xfrm>
          <a:prstGeom prst="rect">
            <a:avLst/>
          </a:prstGeom>
          <a:solidFill>
            <a:srgbClr val="D63EAE"/>
          </a:solidFill>
          <a:ln w="12700">
            <a:solidFill>
              <a:srgbClr val="D63EA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566928"/>
            <a:ext cx="1874520" cy="10936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3,900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4983480" y="202996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39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040880" y="365760"/>
            <a:ext cx="1874520" cy="2103120"/>
          </a:xfrm>
          <a:prstGeom prst="roundRect">
            <a:avLst>
              <a:gd name="adj" fmla="val 4878"/>
            </a:avLst>
          </a:prstGeom>
          <a:solidFill>
            <a:srgbClr val="5C2280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40880" y="365760"/>
            <a:ext cx="1874520" cy="54864"/>
          </a:xfrm>
          <a:prstGeom prst="rect">
            <a:avLst/>
          </a:prstGeom>
          <a:solidFill>
            <a:srgbClr val="D63EAE"/>
          </a:solidFill>
          <a:ln w="12700">
            <a:solidFill>
              <a:srgbClr val="D63EA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566928"/>
            <a:ext cx="1874520" cy="10936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4600" dirty="0"/>
          </a:p>
        </p:txBody>
      </p:sp>
      <p:sp>
        <p:nvSpPr>
          <p:cNvPr id="20" name="Text 18"/>
          <p:cNvSpPr/>
          <p:nvPr/>
        </p:nvSpPr>
        <p:spPr>
          <a:xfrm>
            <a:off x="7040880" y="202996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39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983480" y="2697480"/>
            <a:ext cx="1874520" cy="2103120"/>
          </a:xfrm>
          <a:prstGeom prst="roundRect">
            <a:avLst>
              <a:gd name="adj" fmla="val 4878"/>
            </a:avLst>
          </a:prstGeom>
          <a:solidFill>
            <a:srgbClr val="5C2280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83480" y="2697480"/>
            <a:ext cx="1874520" cy="54864"/>
          </a:xfrm>
          <a:prstGeom prst="rect">
            <a:avLst/>
          </a:prstGeom>
          <a:solidFill>
            <a:srgbClr val="D63EAE"/>
          </a:solidFill>
          <a:ln w="12700">
            <a:solidFill>
              <a:srgbClr val="D63EA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2898648"/>
            <a:ext cx="1874520" cy="10936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4600" dirty="0"/>
          </a:p>
        </p:txBody>
      </p:sp>
      <p:sp>
        <p:nvSpPr>
          <p:cNvPr id="24" name="Text 22"/>
          <p:cNvSpPr/>
          <p:nvPr/>
        </p:nvSpPr>
        <p:spPr>
          <a:xfrm>
            <a:off x="4983480" y="436168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39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Queries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040880" y="2697480"/>
            <a:ext cx="1874520" cy="2103120"/>
          </a:xfrm>
          <a:prstGeom prst="roundRect">
            <a:avLst>
              <a:gd name="adj" fmla="val 4878"/>
            </a:avLst>
          </a:prstGeom>
          <a:solidFill>
            <a:srgbClr val="5C2280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40880" y="2697480"/>
            <a:ext cx="1874520" cy="54864"/>
          </a:xfrm>
          <a:prstGeom prst="rect">
            <a:avLst/>
          </a:prstGeom>
          <a:solidFill>
            <a:srgbClr val="D63EAE"/>
          </a:solidFill>
          <a:ln w="12700">
            <a:solidFill>
              <a:srgbClr val="D63EA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40880" y="2898648"/>
            <a:ext cx="1874520" cy="10936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600" dirty="0"/>
          </a:p>
        </p:txBody>
      </p:sp>
      <p:sp>
        <p:nvSpPr>
          <p:cNvPr id="28" name="Text 26"/>
          <p:cNvSpPr/>
          <p:nvPr/>
        </p:nvSpPr>
        <p:spPr>
          <a:xfrm>
            <a:off x="7040880" y="436168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39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B1E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B2D9E"/>
          </a:solidFill>
          <a:ln w="12700">
            <a:solidFill>
              <a:srgbClr val="7B2D9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D63EAE"/>
          </a:solidFill>
          <a:ln w="12700">
            <a:solidFill>
              <a:srgbClr val="D63E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503920" y="274320"/>
            <a:ext cx="530352" cy="347472"/>
          </a:xfrm>
          <a:prstGeom prst="roundRect">
            <a:avLst>
              <a:gd name="adj" fmla="val 26316"/>
            </a:avLst>
          </a:prstGeom>
          <a:solidFill>
            <a:srgbClr val="D63EAE"/>
          </a:solidFill>
          <a:ln w="12700">
            <a:solidFill>
              <a:srgbClr val="D63E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274320"/>
            <a:ext cx="530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5C2280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5010912"/>
            <a:ext cx="8595360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39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Shopping Behavior Analysis  ·  Data Analytics Portfolio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097280"/>
            <a:ext cx="8503920" cy="804672"/>
          </a:xfrm>
          <a:prstGeom prst="roundRect">
            <a:avLst>
              <a:gd name="adj" fmla="val 9091"/>
            </a:avLst>
          </a:prstGeom>
          <a:solidFill>
            <a:srgbClr val="5C2280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097280"/>
            <a:ext cx="64008" cy="804672"/>
          </a:xfrm>
          <a:prstGeom prst="rect">
            <a:avLst/>
          </a:prstGeom>
          <a:solidFill>
            <a:srgbClr val="D63EAE"/>
          </a:solidFill>
          <a:ln w="12700">
            <a:solidFill>
              <a:srgbClr val="D63EA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13385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63E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1371600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 end-to-end analytics pipeline: clean raw retail data, load to SQL Server, write 10 business queries, and visualise all insights in an interactive Power BI dashboard.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" y="2057400"/>
            <a:ext cx="1993392" cy="2788920"/>
          </a:xfrm>
          <a:prstGeom prst="roundRect">
            <a:avLst>
              <a:gd name="adj" fmla="val 4587"/>
            </a:avLst>
          </a:prstGeom>
          <a:solidFill>
            <a:srgbClr val="3D1659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057400"/>
            <a:ext cx="1993392" cy="594360"/>
          </a:xfrm>
          <a:prstGeom prst="roundRect">
            <a:avLst>
              <a:gd name="adj" fmla="val 15385"/>
            </a:avLst>
          </a:prstGeom>
          <a:solidFill>
            <a:srgbClr val="7B2D9E"/>
          </a:solidFill>
          <a:ln w="12700">
            <a:solidFill>
              <a:srgbClr val="7B2D9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377440"/>
            <a:ext cx="1993392" cy="274320"/>
          </a:xfrm>
          <a:prstGeom prst="rect">
            <a:avLst/>
          </a:prstGeom>
          <a:solidFill>
            <a:srgbClr val="7B2D9E"/>
          </a:solidFill>
          <a:ln w="12700">
            <a:solidFill>
              <a:srgbClr val="7B2D9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057400"/>
            <a:ext cx="19933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63E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29768" y="274320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Collection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9768" y="3163824"/>
            <a:ext cx="178308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39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3,900 records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39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columns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39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categories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39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Kaggle CSV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468880" y="2057400"/>
            <a:ext cx="1993392" cy="2788920"/>
          </a:xfrm>
          <a:prstGeom prst="roundRect">
            <a:avLst>
              <a:gd name="adj" fmla="val 4587"/>
            </a:avLst>
          </a:prstGeom>
          <a:solidFill>
            <a:srgbClr val="3D1659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68880" y="2057400"/>
            <a:ext cx="1993392" cy="594360"/>
          </a:xfrm>
          <a:prstGeom prst="roundRect">
            <a:avLst>
              <a:gd name="adj" fmla="val 15385"/>
            </a:avLst>
          </a:prstGeom>
          <a:solidFill>
            <a:srgbClr val="7B2D9E"/>
          </a:solidFill>
          <a:ln w="12700">
            <a:solidFill>
              <a:srgbClr val="7B2D9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68880" y="2377440"/>
            <a:ext cx="1993392" cy="274320"/>
          </a:xfrm>
          <a:prstGeom prst="rect">
            <a:avLst/>
          </a:prstGeom>
          <a:solidFill>
            <a:srgbClr val="7B2D9E"/>
          </a:solidFill>
          <a:ln w="12700">
            <a:solidFill>
              <a:srgbClr val="7B2D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68880" y="2057400"/>
            <a:ext cx="19933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63E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2578608" y="274320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578608" y="3163824"/>
            <a:ext cx="178308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39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 imputation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39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 standardisation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39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39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removal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17720" y="2057400"/>
            <a:ext cx="1993392" cy="2788920"/>
          </a:xfrm>
          <a:prstGeom prst="roundRect">
            <a:avLst>
              <a:gd name="adj" fmla="val 4587"/>
            </a:avLst>
          </a:prstGeom>
          <a:solidFill>
            <a:srgbClr val="3D1659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17720" y="2057400"/>
            <a:ext cx="1993392" cy="594360"/>
          </a:xfrm>
          <a:prstGeom prst="roundRect">
            <a:avLst>
              <a:gd name="adj" fmla="val 15385"/>
            </a:avLst>
          </a:prstGeom>
          <a:solidFill>
            <a:srgbClr val="7B2D9E"/>
          </a:solidFill>
          <a:ln w="12700">
            <a:solidFill>
              <a:srgbClr val="7B2D9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17720" y="2377440"/>
            <a:ext cx="1993392" cy="274320"/>
          </a:xfrm>
          <a:prstGeom prst="rect">
            <a:avLst/>
          </a:prstGeom>
          <a:solidFill>
            <a:srgbClr val="7B2D9E"/>
          </a:solidFill>
          <a:ln w="12700">
            <a:solidFill>
              <a:srgbClr val="7B2D9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17720" y="2057400"/>
            <a:ext cx="19933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63E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4727448" y="274320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Analysis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727448" y="3163824"/>
            <a:ext cx="178308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39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Server Express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39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business queries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39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CTEs, window fns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39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Correlated subqueries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766560" y="2057400"/>
            <a:ext cx="1993392" cy="2788920"/>
          </a:xfrm>
          <a:prstGeom prst="roundRect">
            <a:avLst>
              <a:gd name="adj" fmla="val 4587"/>
            </a:avLst>
          </a:prstGeom>
          <a:solidFill>
            <a:srgbClr val="3D1659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66560" y="2057400"/>
            <a:ext cx="1993392" cy="594360"/>
          </a:xfrm>
          <a:prstGeom prst="roundRect">
            <a:avLst>
              <a:gd name="adj" fmla="val 15385"/>
            </a:avLst>
          </a:prstGeom>
          <a:solidFill>
            <a:srgbClr val="7B2D9E"/>
          </a:solidFill>
          <a:ln w="12700">
            <a:solidFill>
              <a:srgbClr val="7B2D9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66560" y="2377440"/>
            <a:ext cx="1993392" cy="274320"/>
          </a:xfrm>
          <a:prstGeom prst="rect">
            <a:avLst/>
          </a:prstGeom>
          <a:solidFill>
            <a:srgbClr val="7B2D9E"/>
          </a:solidFill>
          <a:ln w="12700">
            <a:solidFill>
              <a:srgbClr val="7B2D9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66560" y="2057400"/>
            <a:ext cx="19933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63E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6876288" y="274320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876288" y="3163824"/>
            <a:ext cx="178308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39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SQL connection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39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cards &amp; charts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39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Donut + slicers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39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Cross-filter interactivity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B1E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B2D9E"/>
          </a:solidFill>
          <a:ln w="12700">
            <a:solidFill>
              <a:srgbClr val="7B2D9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D63EAE"/>
          </a:solidFill>
          <a:ln w="12700">
            <a:solidFill>
              <a:srgbClr val="D63E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Cleaning &amp; Feature Engineering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503920" y="274320"/>
            <a:ext cx="530352" cy="347472"/>
          </a:xfrm>
          <a:prstGeom prst="roundRect">
            <a:avLst>
              <a:gd name="adj" fmla="val 26316"/>
            </a:avLst>
          </a:prstGeom>
          <a:solidFill>
            <a:srgbClr val="D63EAE"/>
          </a:solidFill>
          <a:ln w="12700">
            <a:solidFill>
              <a:srgbClr val="D63E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274320"/>
            <a:ext cx="530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5C2280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5010912"/>
            <a:ext cx="8595360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39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Shopping Behavior Analysis  ·  Data Analytics Portfolio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10972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3E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SUMMARY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417320"/>
            <a:ext cx="3794760" cy="393192"/>
          </a:xfrm>
          <a:prstGeom prst="rect">
            <a:avLst/>
          </a:prstGeom>
          <a:solidFill>
            <a:srgbClr val="3D1659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417320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9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51760" y="1417320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3,900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1837944"/>
            <a:ext cx="3794760" cy="393192"/>
          </a:xfrm>
          <a:prstGeom prst="rect">
            <a:avLst/>
          </a:prstGeom>
          <a:solidFill>
            <a:srgbClr val="5C2280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837944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9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Columns (raw)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51760" y="1837944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2258568"/>
            <a:ext cx="3794760" cy="393192"/>
          </a:xfrm>
          <a:prstGeom prst="rect">
            <a:avLst/>
          </a:prstGeom>
          <a:solidFill>
            <a:srgbClr val="3D1659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258568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9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Columns (clean)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51760" y="2258568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" y="2679192"/>
            <a:ext cx="3794760" cy="393192"/>
          </a:xfrm>
          <a:prstGeom prst="rect">
            <a:avLst/>
          </a:prstGeom>
          <a:solidFill>
            <a:srgbClr val="5C2280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679192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9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 values in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651760" y="2679192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Rating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0040" y="3099816"/>
            <a:ext cx="3794760" cy="393192"/>
          </a:xfrm>
          <a:prstGeom prst="rect">
            <a:avLst/>
          </a:prstGeom>
          <a:solidFill>
            <a:srgbClr val="3D1659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099816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9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features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651760" y="3099816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age_group, freq_days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0040" y="3520440"/>
            <a:ext cx="3794760" cy="393192"/>
          </a:xfrm>
          <a:prstGeom prst="rect">
            <a:avLst/>
          </a:prstGeom>
          <a:solidFill>
            <a:srgbClr val="5C2280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520440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9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shape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651760" y="3520440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3,900 × 18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480560" y="10972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3E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 PIPELINE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480560" y="1453896"/>
            <a:ext cx="329184" cy="329184"/>
          </a:xfrm>
          <a:prstGeom prst="ellipse">
            <a:avLst/>
          </a:prstGeom>
          <a:solidFill>
            <a:srgbClr val="D63EAE"/>
          </a:solidFill>
          <a:ln w="12700">
            <a:solidFill>
              <a:srgbClr val="D63EA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80560" y="145389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01184" y="1417320"/>
            <a:ext cx="3922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Value Imputation — category-wise median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480560" y="2020824"/>
            <a:ext cx="329184" cy="329184"/>
          </a:xfrm>
          <a:prstGeom prst="ellipse">
            <a:avLst/>
          </a:prstGeom>
          <a:solidFill>
            <a:srgbClr val="D63EAE"/>
          </a:solidFill>
          <a:ln w="12700">
            <a:solidFill>
              <a:srgbClr val="D63EA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80560" y="20208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901184" y="1984248"/>
            <a:ext cx="3922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 Standardisation — lowercase + underscores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480560" y="2587752"/>
            <a:ext cx="329184" cy="329184"/>
          </a:xfrm>
          <a:prstGeom prst="ellipse">
            <a:avLst/>
          </a:prstGeom>
          <a:solidFill>
            <a:srgbClr val="D63EAE"/>
          </a:solidFill>
          <a:ln w="12700">
            <a:solidFill>
              <a:srgbClr val="D63EA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80560" y="25877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901184" y="2551176"/>
            <a:ext cx="3922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 Rename — purchase_amount_(usd) → purchase_amount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480560" y="3154680"/>
            <a:ext cx="329184" cy="329184"/>
          </a:xfrm>
          <a:prstGeom prst="ellipse">
            <a:avLst/>
          </a:prstGeom>
          <a:solidFill>
            <a:srgbClr val="D63EAE"/>
          </a:solidFill>
          <a:ln w="12700">
            <a:solidFill>
              <a:srgbClr val="D63EA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80560" y="31546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901184" y="3118104"/>
            <a:ext cx="3922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Group Binning — quartile segmentation (4 groups)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480560" y="3721608"/>
            <a:ext cx="329184" cy="329184"/>
          </a:xfrm>
          <a:prstGeom prst="ellipse">
            <a:avLst/>
          </a:prstGeom>
          <a:solidFill>
            <a:srgbClr val="D63EAE"/>
          </a:solidFill>
          <a:ln w="12700">
            <a:solidFill>
              <a:srgbClr val="D63EA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80560" y="37216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901184" y="3685032"/>
            <a:ext cx="3922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Frequency Mapping — text labels → integer day values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480560" y="4288536"/>
            <a:ext cx="329184" cy="329184"/>
          </a:xfrm>
          <a:prstGeom prst="ellipse">
            <a:avLst/>
          </a:prstGeom>
          <a:solidFill>
            <a:srgbClr val="D63EAE"/>
          </a:solidFill>
          <a:ln w="12700">
            <a:solidFill>
              <a:srgbClr val="D63EA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80560" y="42885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901184" y="4251960"/>
            <a:ext cx="3922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Removal — promo_code_used column dropped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B1E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B2D9E"/>
          </a:solidFill>
          <a:ln w="12700">
            <a:solidFill>
              <a:srgbClr val="7B2D9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D63EAE"/>
          </a:solidFill>
          <a:ln w="12700">
            <a:solidFill>
              <a:srgbClr val="D63E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Business Queries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503920" y="274320"/>
            <a:ext cx="530352" cy="347472"/>
          </a:xfrm>
          <a:prstGeom prst="roundRect">
            <a:avLst>
              <a:gd name="adj" fmla="val 26316"/>
            </a:avLst>
          </a:prstGeom>
          <a:solidFill>
            <a:srgbClr val="D63EAE"/>
          </a:solidFill>
          <a:ln w="12700">
            <a:solidFill>
              <a:srgbClr val="D63E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274320"/>
            <a:ext cx="530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5C2280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5010912"/>
            <a:ext cx="8595360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39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Shopping Behavior Analysis  ·  Data Analytics Portfolio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097280"/>
            <a:ext cx="594360" cy="384048"/>
          </a:xfrm>
          <a:prstGeom prst="rect">
            <a:avLst/>
          </a:prstGeom>
          <a:solidFill>
            <a:srgbClr val="7B2D9E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1097280"/>
            <a:ext cx="521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3E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60120" y="1097280"/>
            <a:ext cx="3657600" cy="384048"/>
          </a:xfrm>
          <a:prstGeom prst="rect">
            <a:avLst/>
          </a:prstGeom>
          <a:solidFill>
            <a:srgbClr val="7B2D9E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3272" y="1097280"/>
            <a:ext cx="3584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3E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Question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1097280"/>
            <a:ext cx="4160520" cy="384048"/>
          </a:xfrm>
          <a:prstGeom prst="rect">
            <a:avLst/>
          </a:prstGeom>
          <a:solidFill>
            <a:srgbClr val="7B2D9E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36592" y="1097280"/>
            <a:ext cx="4087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3E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Technique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" y="1508760"/>
            <a:ext cx="594360" cy="338328"/>
          </a:xfrm>
          <a:prstGeom prst="rect">
            <a:avLst/>
          </a:prstGeom>
          <a:solidFill>
            <a:srgbClr val="3D1659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" y="1508760"/>
            <a:ext cx="502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3E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60120" y="1508760"/>
            <a:ext cx="3657600" cy="338328"/>
          </a:xfrm>
          <a:prstGeom prst="rect">
            <a:avLst/>
          </a:prstGeom>
          <a:solidFill>
            <a:srgbClr val="3D1659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3272" y="1508760"/>
            <a:ext cx="3566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by gender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1508760"/>
            <a:ext cx="4160520" cy="338328"/>
          </a:xfrm>
          <a:prstGeom prst="rect">
            <a:avLst/>
          </a:prstGeom>
          <a:solidFill>
            <a:srgbClr val="3D1659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36592" y="1508760"/>
            <a:ext cx="40690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BY gender + SUM(purchase_amount)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1851660"/>
            <a:ext cx="594360" cy="338328"/>
          </a:xfrm>
          <a:prstGeom prst="rect">
            <a:avLst/>
          </a:prstGeom>
          <a:solidFill>
            <a:srgbClr val="5C2280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192" y="1851660"/>
            <a:ext cx="502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3E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60120" y="1851660"/>
            <a:ext cx="3657600" cy="338328"/>
          </a:xfrm>
          <a:prstGeom prst="rect">
            <a:avLst/>
          </a:prstGeom>
          <a:solidFill>
            <a:srgbClr val="5C2280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33272" y="1851660"/>
            <a:ext cx="3566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 users above average spend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1851660"/>
            <a:ext cx="4160520" cy="338328"/>
          </a:xfrm>
          <a:prstGeom prst="rect">
            <a:avLst/>
          </a:prstGeom>
          <a:solidFill>
            <a:srgbClr val="5C2280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36592" y="1851660"/>
            <a:ext cx="40690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Correlated subquery: WHERE amount ≥ AVG(...)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0040" y="2194560"/>
            <a:ext cx="594360" cy="338328"/>
          </a:xfrm>
          <a:prstGeom prst="rect">
            <a:avLst/>
          </a:prstGeom>
          <a:solidFill>
            <a:srgbClr val="3D1659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3192" y="2194560"/>
            <a:ext cx="502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3E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60120" y="2194560"/>
            <a:ext cx="3657600" cy="338328"/>
          </a:xfrm>
          <a:prstGeom prst="rect">
            <a:avLst/>
          </a:prstGeom>
          <a:solidFill>
            <a:srgbClr val="3D1659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33272" y="2194560"/>
            <a:ext cx="3566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products by avg review rating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663440" y="2194560"/>
            <a:ext cx="4160520" cy="338328"/>
          </a:xfrm>
          <a:prstGeom prst="rect">
            <a:avLst/>
          </a:prstGeom>
          <a:solidFill>
            <a:srgbClr val="3D1659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36592" y="2194560"/>
            <a:ext cx="40690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+ AVG(CAST(rating AS FLOAT)) + ROUND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20040" y="2537460"/>
            <a:ext cx="594360" cy="338328"/>
          </a:xfrm>
          <a:prstGeom prst="rect">
            <a:avLst/>
          </a:prstGeom>
          <a:solidFill>
            <a:srgbClr val="5C2280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3192" y="2537460"/>
            <a:ext cx="502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3E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60120" y="2537460"/>
            <a:ext cx="3657600" cy="338328"/>
          </a:xfrm>
          <a:prstGeom prst="rect">
            <a:avLst/>
          </a:prstGeom>
          <a:solidFill>
            <a:srgbClr val="5C2280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33272" y="2537460"/>
            <a:ext cx="3566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spend: Standard vs Express shipping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663440" y="2537460"/>
            <a:ext cx="4160520" cy="338328"/>
          </a:xfrm>
          <a:prstGeom prst="rect">
            <a:avLst/>
          </a:prstGeom>
          <a:solidFill>
            <a:srgbClr val="5C2280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36592" y="2537460"/>
            <a:ext cx="40690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BY shipping_type + WHERE IN(...)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20040" y="2880360"/>
            <a:ext cx="594360" cy="338328"/>
          </a:xfrm>
          <a:prstGeom prst="rect">
            <a:avLst/>
          </a:prstGeom>
          <a:solidFill>
            <a:srgbClr val="3D1659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3192" y="2880360"/>
            <a:ext cx="502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3E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60120" y="2880360"/>
            <a:ext cx="3657600" cy="338328"/>
          </a:xfrm>
          <a:prstGeom prst="rect">
            <a:avLst/>
          </a:prstGeom>
          <a:solidFill>
            <a:srgbClr val="3D1659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33272" y="2880360"/>
            <a:ext cx="3566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Subscribed vs non-subscribed spend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663440" y="2880360"/>
            <a:ext cx="4160520" cy="338328"/>
          </a:xfrm>
          <a:prstGeom prst="rect">
            <a:avLst/>
          </a:prstGeom>
          <a:solidFill>
            <a:srgbClr val="3D1659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36592" y="2880360"/>
            <a:ext cx="40690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BY subscription_status + COUNT(*) + SUM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20040" y="3223260"/>
            <a:ext cx="594360" cy="338328"/>
          </a:xfrm>
          <a:prstGeom prst="rect">
            <a:avLst/>
          </a:prstGeom>
          <a:solidFill>
            <a:srgbClr val="5C2280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3192" y="3223260"/>
            <a:ext cx="502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3E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960120" y="3223260"/>
            <a:ext cx="3657600" cy="338328"/>
          </a:xfrm>
          <a:prstGeom prst="rect">
            <a:avLst/>
          </a:prstGeom>
          <a:solidFill>
            <a:srgbClr val="5C2280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33272" y="3223260"/>
            <a:ext cx="3566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products by discount rate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663440" y="3223260"/>
            <a:ext cx="4160520" cy="338328"/>
          </a:xfrm>
          <a:prstGeom prst="rect">
            <a:avLst/>
          </a:prstGeom>
          <a:solidFill>
            <a:srgbClr val="5C2280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36592" y="3223260"/>
            <a:ext cx="40690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* SUM(CASE WHEN discount) / COUNT(*)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320040" y="3566160"/>
            <a:ext cx="594360" cy="338328"/>
          </a:xfrm>
          <a:prstGeom prst="rect">
            <a:avLst/>
          </a:prstGeom>
          <a:solidFill>
            <a:srgbClr val="3D1659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93192" y="3566160"/>
            <a:ext cx="502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3E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Q7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960120" y="3566160"/>
            <a:ext cx="3657600" cy="338328"/>
          </a:xfrm>
          <a:prstGeom prst="rect">
            <a:avLst/>
          </a:prstGeom>
          <a:solidFill>
            <a:srgbClr val="3D1659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33272" y="3566160"/>
            <a:ext cx="3566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segmentation (CTE)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663440" y="3566160"/>
            <a:ext cx="4160520" cy="338328"/>
          </a:xfrm>
          <a:prstGeom prst="rect">
            <a:avLst/>
          </a:prstGeom>
          <a:solidFill>
            <a:srgbClr val="3D1659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36592" y="3566160"/>
            <a:ext cx="40690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CTE + CASE WHEN on previous_purchases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320040" y="3909060"/>
            <a:ext cx="594360" cy="338328"/>
          </a:xfrm>
          <a:prstGeom prst="rect">
            <a:avLst/>
          </a:prstGeom>
          <a:solidFill>
            <a:srgbClr val="5C2280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93192" y="3909060"/>
            <a:ext cx="502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3E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Q8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960120" y="3909060"/>
            <a:ext cx="3657600" cy="338328"/>
          </a:xfrm>
          <a:prstGeom prst="rect">
            <a:avLst/>
          </a:prstGeom>
          <a:solidFill>
            <a:srgbClr val="5C2280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33272" y="3909060"/>
            <a:ext cx="3566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products per category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4663440" y="3909060"/>
            <a:ext cx="4160520" cy="338328"/>
          </a:xfrm>
          <a:prstGeom prst="rect">
            <a:avLst/>
          </a:prstGeom>
          <a:solidFill>
            <a:srgbClr val="5C2280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36592" y="3909060"/>
            <a:ext cx="40690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CTE + ROW_NUMBER() OVER(PARTITION BY category)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320040" y="4251960"/>
            <a:ext cx="594360" cy="338328"/>
          </a:xfrm>
          <a:prstGeom prst="rect">
            <a:avLst/>
          </a:prstGeom>
          <a:solidFill>
            <a:srgbClr val="3D1659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93192" y="4251960"/>
            <a:ext cx="502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3E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Q9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960120" y="4251960"/>
            <a:ext cx="3657600" cy="338328"/>
          </a:xfrm>
          <a:prstGeom prst="rect">
            <a:avLst/>
          </a:prstGeom>
          <a:solidFill>
            <a:srgbClr val="3D1659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33272" y="4251960"/>
            <a:ext cx="3566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buyers &amp; subscription correlation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4663440" y="4251960"/>
            <a:ext cx="4160520" cy="338328"/>
          </a:xfrm>
          <a:prstGeom prst="rect">
            <a:avLst/>
          </a:prstGeom>
          <a:solidFill>
            <a:srgbClr val="3D1659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736592" y="4251960"/>
            <a:ext cx="40690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previous_purchases &gt; 5 + GROUP BY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320040" y="4594860"/>
            <a:ext cx="594360" cy="338328"/>
          </a:xfrm>
          <a:prstGeom prst="rect">
            <a:avLst/>
          </a:prstGeom>
          <a:solidFill>
            <a:srgbClr val="5C2280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93192" y="4594860"/>
            <a:ext cx="502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3E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Q10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960120" y="4594860"/>
            <a:ext cx="3657600" cy="338328"/>
          </a:xfrm>
          <a:prstGeom prst="rect">
            <a:avLst/>
          </a:prstGeom>
          <a:solidFill>
            <a:srgbClr val="5C2280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033272" y="4594860"/>
            <a:ext cx="3566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by age group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4663440" y="4594860"/>
            <a:ext cx="4160520" cy="338328"/>
          </a:xfrm>
          <a:prstGeom prst="rect">
            <a:avLst/>
          </a:prstGeom>
          <a:solidFill>
            <a:srgbClr val="5C2280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736592" y="4594860"/>
            <a:ext cx="40690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BY age_group + SUM ORDER BY DESC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B1E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B2D9E"/>
          </a:solidFill>
          <a:ln w="12700">
            <a:solidFill>
              <a:srgbClr val="7B2D9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D63EAE"/>
          </a:solidFill>
          <a:ln w="12700">
            <a:solidFill>
              <a:srgbClr val="D63E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Dashboard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503920" y="274320"/>
            <a:ext cx="530352" cy="347472"/>
          </a:xfrm>
          <a:prstGeom prst="roundRect">
            <a:avLst>
              <a:gd name="adj" fmla="val 26316"/>
            </a:avLst>
          </a:prstGeom>
          <a:solidFill>
            <a:srgbClr val="D63EAE"/>
          </a:solidFill>
          <a:ln w="12700">
            <a:solidFill>
              <a:srgbClr val="D63E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274320"/>
            <a:ext cx="530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5C2280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5010912"/>
            <a:ext cx="8595360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39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Shopping Behavior Analysis  ·  Data Analytics Portfolio</a:t>
            </a:r>
            <a:endParaRPr lang="en-US" sz="9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78992"/>
            <a:ext cx="850392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B1E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B2D9E"/>
          </a:solidFill>
          <a:ln w="12700">
            <a:solidFill>
              <a:srgbClr val="7B2D9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D63EAE"/>
          </a:solidFill>
          <a:ln w="12700">
            <a:solidFill>
              <a:srgbClr val="D63E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 &amp; Business Findings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503920" y="274320"/>
            <a:ext cx="530352" cy="347472"/>
          </a:xfrm>
          <a:prstGeom prst="roundRect">
            <a:avLst>
              <a:gd name="adj" fmla="val 26316"/>
            </a:avLst>
          </a:prstGeom>
          <a:solidFill>
            <a:srgbClr val="D63EAE"/>
          </a:solidFill>
          <a:ln w="12700">
            <a:solidFill>
              <a:srgbClr val="D63E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274320"/>
            <a:ext cx="530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5C2280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5010912"/>
            <a:ext cx="8595360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39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Shopping Behavior Analysis  ·  Data Analytics Portfolio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097280"/>
            <a:ext cx="4160520" cy="1901952"/>
          </a:xfrm>
          <a:prstGeom prst="roundRect">
            <a:avLst>
              <a:gd name="adj" fmla="val 4808"/>
            </a:avLst>
          </a:prstGeom>
          <a:solidFill>
            <a:srgbClr val="3D1659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097280"/>
            <a:ext cx="64008" cy="1901952"/>
          </a:xfrm>
          <a:prstGeom prst="rect">
            <a:avLst/>
          </a:prstGeom>
          <a:solidFill>
            <a:srgbClr val="D63EAE"/>
          </a:solidFill>
          <a:ln w="12700">
            <a:solidFill>
              <a:srgbClr val="D63EA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" y="1207008"/>
            <a:ext cx="420624" cy="320040"/>
          </a:xfrm>
          <a:prstGeom prst="roundRect">
            <a:avLst>
              <a:gd name="adj" fmla="val 14286"/>
            </a:avLst>
          </a:prstGeom>
          <a:solidFill>
            <a:srgbClr val="7B2D9E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" y="1207008"/>
            <a:ext cx="4206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63E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118872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&amp; Category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1645920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39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Clothing: $104K — 44% of total revenue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2075688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39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2.9× higher revenue than Footwear ($36K)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2505456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39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Revenue rank: Clothing &gt; Accessories &gt; Footwear &gt; Outerwear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36592" y="1097280"/>
            <a:ext cx="4160520" cy="1901952"/>
          </a:xfrm>
          <a:prstGeom prst="roundRect">
            <a:avLst>
              <a:gd name="adj" fmla="val 4808"/>
            </a:avLst>
          </a:prstGeom>
          <a:solidFill>
            <a:srgbClr val="3D1659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6592" y="1097280"/>
            <a:ext cx="64008" cy="1901952"/>
          </a:xfrm>
          <a:prstGeom prst="rect">
            <a:avLst/>
          </a:prstGeom>
          <a:solidFill>
            <a:srgbClr val="D63EAE"/>
          </a:solidFill>
          <a:ln w="12700">
            <a:solidFill>
              <a:srgbClr val="D63EA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01184" y="1207008"/>
            <a:ext cx="420624" cy="320040"/>
          </a:xfrm>
          <a:prstGeom prst="roundRect">
            <a:avLst>
              <a:gd name="adj" fmla="val 14286"/>
            </a:avLst>
          </a:prstGeom>
          <a:solidFill>
            <a:srgbClr val="7B2D9E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01184" y="1207008"/>
            <a:ext cx="4206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63E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22392" y="118872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Demographics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19472" y="1645920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39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Young Adults &amp; Middle-aged lead revenue + volume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19472" y="2075688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39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Senior segment ranks 3rd — high-value, often overlooked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19472" y="2505456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39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CTE segmentation: majority are Returning (2–10 purchases)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" y="3108960"/>
            <a:ext cx="4160520" cy="1901952"/>
          </a:xfrm>
          <a:prstGeom prst="roundRect">
            <a:avLst>
              <a:gd name="adj" fmla="val 4808"/>
            </a:avLst>
          </a:prstGeom>
          <a:solidFill>
            <a:srgbClr val="3D1659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3108960"/>
            <a:ext cx="64008" cy="1901952"/>
          </a:xfrm>
          <a:prstGeom prst="rect">
            <a:avLst/>
          </a:prstGeom>
          <a:solidFill>
            <a:srgbClr val="D63EAE"/>
          </a:solidFill>
          <a:ln w="12700">
            <a:solidFill>
              <a:srgbClr val="D63EA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" y="3218688"/>
            <a:ext cx="420624" cy="320040"/>
          </a:xfrm>
          <a:prstGeom prst="roundRect">
            <a:avLst>
              <a:gd name="adj" fmla="val 14286"/>
            </a:avLst>
          </a:prstGeom>
          <a:solidFill>
            <a:srgbClr val="7B2D9E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" y="3218688"/>
            <a:ext cx="4206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63E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5840" y="320040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Subscriptions &amp; Loyalty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02920" y="3657600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39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Only 27% subscribed — 73% is an upsell opportunity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2920" y="4087368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39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Subscribers generate materially higher avg spend (Q5)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" y="4517136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39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Loyalty drives subscription conversion, not the reverse (Q9)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36592" y="3108960"/>
            <a:ext cx="4160520" cy="1901952"/>
          </a:xfrm>
          <a:prstGeom prst="roundRect">
            <a:avLst>
              <a:gd name="adj" fmla="val 4808"/>
            </a:avLst>
          </a:prstGeom>
          <a:solidFill>
            <a:srgbClr val="3D1659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36592" y="3108960"/>
            <a:ext cx="64008" cy="1901952"/>
          </a:xfrm>
          <a:prstGeom prst="rect">
            <a:avLst/>
          </a:prstGeom>
          <a:solidFill>
            <a:srgbClr val="D63EAE"/>
          </a:solidFill>
          <a:ln w="12700">
            <a:solidFill>
              <a:srgbClr val="D63EA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01184" y="3218688"/>
            <a:ext cx="420624" cy="320040"/>
          </a:xfrm>
          <a:prstGeom prst="roundRect">
            <a:avLst>
              <a:gd name="adj" fmla="val 14286"/>
            </a:avLst>
          </a:prstGeom>
          <a:solidFill>
            <a:srgbClr val="7B2D9E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01184" y="3218688"/>
            <a:ext cx="4206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63E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422392" y="320040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Discounts &amp; Promotions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919472" y="3657600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39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Discount users still spend above average (Q2)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919472" y="4087368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39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Top discount products maintain strong ratings (Q6)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919472" y="4517136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39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Strategy raises volume without hurting basket value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B1E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B2D9E"/>
          </a:solidFill>
          <a:ln w="12700">
            <a:solidFill>
              <a:srgbClr val="7B2D9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D63EAE"/>
          </a:solidFill>
          <a:ln w="12700">
            <a:solidFill>
              <a:srgbClr val="D63E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503920" y="274320"/>
            <a:ext cx="530352" cy="347472"/>
          </a:xfrm>
          <a:prstGeom prst="roundRect">
            <a:avLst>
              <a:gd name="adj" fmla="val 26316"/>
            </a:avLst>
          </a:prstGeom>
          <a:solidFill>
            <a:srgbClr val="D63EAE"/>
          </a:solidFill>
          <a:ln w="12700">
            <a:solidFill>
              <a:srgbClr val="D63E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274320"/>
            <a:ext cx="530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5C2280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5010912"/>
            <a:ext cx="8595360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39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Shopping Behavior Analysis  ·  Data Analytics Portfolio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097280"/>
            <a:ext cx="1993392" cy="3749040"/>
          </a:xfrm>
          <a:prstGeom prst="roundRect">
            <a:avLst>
              <a:gd name="adj" fmla="val 4587"/>
            </a:avLst>
          </a:prstGeom>
          <a:solidFill>
            <a:srgbClr val="3D1659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097280"/>
            <a:ext cx="1993392" cy="777240"/>
          </a:xfrm>
          <a:prstGeom prst="roundRect">
            <a:avLst>
              <a:gd name="adj" fmla="val 11765"/>
            </a:avLst>
          </a:prstGeom>
          <a:solidFill>
            <a:srgbClr val="7B2D9E"/>
          </a:solidFill>
          <a:ln w="12700">
            <a:solidFill>
              <a:srgbClr val="7B2D9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600200"/>
            <a:ext cx="1993392" cy="274320"/>
          </a:xfrm>
          <a:prstGeom prst="rect">
            <a:avLst/>
          </a:prstGeom>
          <a:solidFill>
            <a:srgbClr val="7B2D9E"/>
          </a:solidFill>
          <a:ln w="12700">
            <a:solidFill>
              <a:srgbClr val="7B2D9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097280"/>
            <a:ext cx="1993392" cy="64008"/>
          </a:xfrm>
          <a:prstGeom prst="rect">
            <a:avLst/>
          </a:prstGeom>
          <a:solidFill>
            <a:srgbClr val="D63EAE"/>
          </a:solidFill>
          <a:ln w="12700">
            <a:solidFill>
              <a:srgbClr val="D63EA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161288"/>
            <a:ext cx="18105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 / pandas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1554480"/>
            <a:ext cx="1810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39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Cleaning &amp; Engineering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1965960"/>
            <a:ext cx="18105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Null imputation via groupby + transform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2633472"/>
            <a:ext cx="18105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qcut() quartile binning for age groups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3300984"/>
            <a:ext cx="18105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Text-to-integer dictionary mapping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3968496"/>
            <a:ext cx="18105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Column standardisation &amp; deduplication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468880" y="1097280"/>
            <a:ext cx="1993392" cy="3749040"/>
          </a:xfrm>
          <a:prstGeom prst="roundRect">
            <a:avLst>
              <a:gd name="adj" fmla="val 4587"/>
            </a:avLst>
          </a:prstGeom>
          <a:solidFill>
            <a:srgbClr val="3D1659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68880" y="1097280"/>
            <a:ext cx="1993392" cy="777240"/>
          </a:xfrm>
          <a:prstGeom prst="roundRect">
            <a:avLst>
              <a:gd name="adj" fmla="val 11765"/>
            </a:avLst>
          </a:prstGeom>
          <a:solidFill>
            <a:srgbClr val="7B2D9E"/>
          </a:solidFill>
          <a:ln w="12700">
            <a:solidFill>
              <a:srgbClr val="7B2D9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68880" y="1600200"/>
            <a:ext cx="1993392" cy="274320"/>
          </a:xfrm>
          <a:prstGeom prst="rect">
            <a:avLst/>
          </a:prstGeom>
          <a:solidFill>
            <a:srgbClr val="7B2D9E"/>
          </a:solidFill>
          <a:ln w="12700">
            <a:solidFill>
              <a:srgbClr val="7B2D9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68880" y="1097280"/>
            <a:ext cx="1993392" cy="64008"/>
          </a:xfrm>
          <a:prstGeom prst="rect">
            <a:avLst/>
          </a:prstGeom>
          <a:solidFill>
            <a:srgbClr val="D63EAE"/>
          </a:solidFill>
          <a:ln w="12700">
            <a:solidFill>
              <a:srgbClr val="D63EA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0" y="1161288"/>
            <a:ext cx="18105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Server Express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560320" y="1554480"/>
            <a:ext cx="1810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39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Database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560320" y="1965960"/>
            <a:ext cx="18105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SQLAlchemy + pyodbc connection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560320" y="2633472"/>
            <a:ext cx="18105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df.to_sql() bulk upload (3,900 rows)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560320" y="3300984"/>
            <a:ext cx="18105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T-SQL: CTEs, window functions, subqueries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560320" y="3968496"/>
            <a:ext cx="18105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10 structured business queries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17720" y="1097280"/>
            <a:ext cx="1993392" cy="3749040"/>
          </a:xfrm>
          <a:prstGeom prst="roundRect">
            <a:avLst>
              <a:gd name="adj" fmla="val 4587"/>
            </a:avLst>
          </a:prstGeom>
          <a:solidFill>
            <a:srgbClr val="3D1659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17720" y="1097280"/>
            <a:ext cx="1993392" cy="777240"/>
          </a:xfrm>
          <a:prstGeom prst="roundRect">
            <a:avLst>
              <a:gd name="adj" fmla="val 11765"/>
            </a:avLst>
          </a:prstGeom>
          <a:solidFill>
            <a:srgbClr val="7B2D9E"/>
          </a:solidFill>
          <a:ln w="12700">
            <a:solidFill>
              <a:srgbClr val="7B2D9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17720" y="1600200"/>
            <a:ext cx="1993392" cy="274320"/>
          </a:xfrm>
          <a:prstGeom prst="rect">
            <a:avLst/>
          </a:prstGeom>
          <a:solidFill>
            <a:srgbClr val="7B2D9E"/>
          </a:solidFill>
          <a:ln w="12700">
            <a:solidFill>
              <a:srgbClr val="7B2D9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17720" y="1097280"/>
            <a:ext cx="1993392" cy="64008"/>
          </a:xfrm>
          <a:prstGeom prst="rect">
            <a:avLst/>
          </a:prstGeom>
          <a:solidFill>
            <a:srgbClr val="D63EAE"/>
          </a:solidFill>
          <a:ln w="12700">
            <a:solidFill>
              <a:srgbClr val="D63EA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161288"/>
            <a:ext cx="18105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Desktop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709160" y="1554480"/>
            <a:ext cx="1810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39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Intelligence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09160" y="1965960"/>
            <a:ext cx="18105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Live direct SQL Server connection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709160" y="2633472"/>
            <a:ext cx="18105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KPI cards, bar charts, donut chart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709160" y="3300984"/>
            <a:ext cx="18105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4 interactive cross-filter slicers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709160" y="3968496"/>
            <a:ext cx="18105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Purple theme dashboard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766560" y="1097280"/>
            <a:ext cx="1993392" cy="3749040"/>
          </a:xfrm>
          <a:prstGeom prst="roundRect">
            <a:avLst>
              <a:gd name="adj" fmla="val 4587"/>
            </a:avLst>
          </a:prstGeom>
          <a:solidFill>
            <a:srgbClr val="3D1659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66560" y="1097280"/>
            <a:ext cx="1993392" cy="777240"/>
          </a:xfrm>
          <a:prstGeom prst="roundRect">
            <a:avLst>
              <a:gd name="adj" fmla="val 11765"/>
            </a:avLst>
          </a:prstGeom>
          <a:solidFill>
            <a:srgbClr val="7B2D9E"/>
          </a:solidFill>
          <a:ln w="12700">
            <a:solidFill>
              <a:srgbClr val="7B2D9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66560" y="1600200"/>
            <a:ext cx="1993392" cy="274320"/>
          </a:xfrm>
          <a:prstGeom prst="rect">
            <a:avLst/>
          </a:prstGeom>
          <a:solidFill>
            <a:srgbClr val="7B2D9E"/>
          </a:solidFill>
          <a:ln w="12700">
            <a:solidFill>
              <a:srgbClr val="7B2D9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66560" y="1097280"/>
            <a:ext cx="1993392" cy="64008"/>
          </a:xfrm>
          <a:prstGeom prst="rect">
            <a:avLst/>
          </a:prstGeom>
          <a:solidFill>
            <a:srgbClr val="D63EAE"/>
          </a:solidFill>
          <a:ln w="12700">
            <a:solidFill>
              <a:srgbClr val="D63EA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0" y="1161288"/>
            <a:ext cx="18105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858000" y="1554480"/>
            <a:ext cx="1810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39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Environment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858000" y="1965960"/>
            <a:ext cx="18105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Python &amp; SQL Server extensions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858000" y="2633472"/>
            <a:ext cx="18105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Script editing and debugging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858000" y="3300984"/>
            <a:ext cx="18105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Git source control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858000" y="3968496"/>
            <a:ext cx="18105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Jupyter-style cell execution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B1E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3D1659"/>
          </a:solidFill>
          <a:ln w="12700">
            <a:solidFill>
              <a:srgbClr val="3D165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06240" y="0"/>
            <a:ext cx="64008" cy="5143500"/>
          </a:xfrm>
          <a:prstGeom prst="rect">
            <a:avLst/>
          </a:prstGeom>
          <a:solidFill>
            <a:srgbClr val="D63EAE"/>
          </a:solidFill>
          <a:ln w="12700">
            <a:solidFill>
              <a:srgbClr val="D63E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65760" y="2450592"/>
            <a:ext cx="1371600" cy="54864"/>
          </a:xfrm>
          <a:prstGeom prst="rect">
            <a:avLst/>
          </a:prstGeom>
          <a:solidFill>
            <a:srgbClr val="D63EAE"/>
          </a:solidFill>
          <a:ln w="12700">
            <a:solidFill>
              <a:srgbClr val="D63E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6060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C39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production-grade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C39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analytics portfolio project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C39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client presentation.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3703320"/>
            <a:ext cx="1719072" cy="320040"/>
          </a:xfrm>
          <a:prstGeom prst="roundRect">
            <a:avLst>
              <a:gd name="adj" fmla="val 17143"/>
            </a:avLst>
          </a:prstGeom>
          <a:solidFill>
            <a:srgbClr val="7B2D9E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703320"/>
            <a:ext cx="1719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39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Wrangling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94560" y="3703320"/>
            <a:ext cx="1719072" cy="320040"/>
          </a:xfrm>
          <a:prstGeom prst="roundRect">
            <a:avLst>
              <a:gd name="adj" fmla="val 17143"/>
            </a:avLst>
          </a:prstGeom>
          <a:solidFill>
            <a:srgbClr val="7B2D9E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94560" y="3703320"/>
            <a:ext cx="1719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39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Analytics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4114800"/>
            <a:ext cx="1719072" cy="320040"/>
          </a:xfrm>
          <a:prstGeom prst="roundRect">
            <a:avLst>
              <a:gd name="adj" fmla="val 17143"/>
            </a:avLst>
          </a:prstGeom>
          <a:solidFill>
            <a:srgbClr val="7B2D9E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4114800"/>
            <a:ext cx="1719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39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Intelligence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94560" y="4114800"/>
            <a:ext cx="1719072" cy="320040"/>
          </a:xfrm>
          <a:prstGeom prst="roundRect">
            <a:avLst>
              <a:gd name="adj" fmla="val 17143"/>
            </a:avLst>
          </a:prstGeom>
          <a:solidFill>
            <a:srgbClr val="7B2D9E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94560" y="4114800"/>
            <a:ext cx="1719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39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4526280"/>
            <a:ext cx="1719072" cy="320040"/>
          </a:xfrm>
          <a:prstGeom prst="roundRect">
            <a:avLst>
              <a:gd name="adj" fmla="val 17143"/>
            </a:avLst>
          </a:prstGeom>
          <a:solidFill>
            <a:srgbClr val="7B2D9E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526280"/>
            <a:ext cx="1719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39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Visualisation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194560" y="4526280"/>
            <a:ext cx="1719072" cy="320040"/>
          </a:xfrm>
          <a:prstGeom prst="roundRect">
            <a:avLst>
              <a:gd name="adj" fmla="val 17143"/>
            </a:avLst>
          </a:prstGeom>
          <a:solidFill>
            <a:srgbClr val="7B2D9E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94560" y="4526280"/>
            <a:ext cx="1719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39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Solving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62272" y="384048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3E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62272" y="81381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D63EAE"/>
          </a:solidFill>
          <a:ln w="12700">
            <a:solidFill>
              <a:srgbClr val="D63EA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62272" y="795528"/>
            <a:ext cx="274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28032" y="777240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customer_shopping_behavior.csv — 3,900 records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462272" y="141732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D63EAE"/>
          </a:solidFill>
          <a:ln w="12700">
            <a:solidFill>
              <a:srgbClr val="D63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62272" y="1399032"/>
            <a:ext cx="274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28032" y="138074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CSB.py — exploratory data analysis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462272" y="2020824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D63EAE"/>
          </a:solidFill>
          <a:ln w="12700">
            <a:solidFill>
              <a:srgbClr val="D63EA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62272" y="2002536"/>
            <a:ext cx="274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28032" y="1984248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Connect_to_Data_Base.py — cleaning + SQL upload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462272" y="2624328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D63EAE"/>
          </a:solidFill>
          <a:ln w="12700">
            <a:solidFill>
              <a:srgbClr val="D63EA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62272" y="2606040"/>
            <a:ext cx="274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28032" y="2587752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Data_Base.sql — 10 T-SQL business queries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462272" y="3227832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D63EAE"/>
          </a:solidFill>
          <a:ln w="12700">
            <a:solidFill>
              <a:srgbClr val="D63EA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62272" y="3209544"/>
            <a:ext cx="274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828032" y="3191256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Customer Behavior Dashboard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462272" y="383133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D63EAE"/>
          </a:solidFill>
          <a:ln w="12700">
            <a:solidFill>
              <a:srgbClr val="D63EA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62272" y="3813048"/>
            <a:ext cx="274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828032" y="3794760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portfolio documentation (DOCX)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462272" y="443484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D63EAE"/>
          </a:solidFill>
          <a:ln w="12700">
            <a:solidFill>
              <a:srgbClr val="D63EA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62272" y="4416552"/>
            <a:ext cx="274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828032" y="439826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presentation deck (PPTX)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5C2280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5010912"/>
            <a:ext cx="8595360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39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Shopping Behavior Analysis  ·  Data Analytics Portfolio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2026-03-11T05:51:24Z</dcterms:created>
  <dcterms:modified xsi:type="dcterms:W3CDTF">2026-03-11T05:51:24Z</dcterms:modified>
</cp:coreProperties>
</file>